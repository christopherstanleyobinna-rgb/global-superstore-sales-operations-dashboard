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2" r:id="rId4"/>
    <p:sldId id="261" r:id="rId5"/>
    <p:sldId id="260" r:id="rId6"/>
    <p:sldId id="263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E4A3F-3367-6E83-217F-903CD05122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Global Superstore Dashboard Summary</a:t>
            </a:r>
          </a:p>
        </p:txBody>
      </p:sp>
    </p:spTree>
    <p:extLst>
      <p:ext uri="{BB962C8B-B14F-4D97-AF65-F5344CB8AC3E}">
        <p14:creationId xmlns:p14="http://schemas.microsoft.com/office/powerpoint/2010/main" val="3613327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F9AF0-232A-9ADE-3D14-AA87E10F7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b="1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478F2-96C6-DC9B-4B2C-E50DE2D3D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/>
              <a:t>This analysis uses the </a:t>
            </a:r>
            <a:r>
              <a:rPr lang="en-US" sz="2800" b="1" dirty="0"/>
              <a:t>Global Superstore dataset</a:t>
            </a:r>
            <a:r>
              <a:rPr lang="en-US" sz="2800" dirty="0"/>
              <a:t> to evaluate </a:t>
            </a:r>
            <a:r>
              <a:rPr lang="en-US" sz="2800" b="1" dirty="0"/>
              <a:t>sales performance, profitability, customer segments, and operational efficiency</a:t>
            </a:r>
            <a:r>
              <a:rPr lang="en-US" sz="2800" dirty="0"/>
              <a:t>.</a:t>
            </a:r>
            <a:br>
              <a:rPr lang="en-US" sz="2800" dirty="0"/>
            </a:br>
            <a:r>
              <a:rPr lang="en-US" sz="2800" dirty="0"/>
              <a:t>Two dashboards were developed to support </a:t>
            </a:r>
            <a:r>
              <a:rPr lang="en-US" sz="2800" b="1" dirty="0"/>
              <a:t>business decision-making</a:t>
            </a:r>
            <a:r>
              <a:rPr lang="en-US" sz="2800" dirty="0"/>
              <a:t> and performance monitoring.</a:t>
            </a:r>
          </a:p>
        </p:txBody>
      </p:sp>
    </p:spTree>
    <p:extLst>
      <p:ext uri="{BB962C8B-B14F-4D97-AF65-F5344CB8AC3E}">
        <p14:creationId xmlns:p14="http://schemas.microsoft.com/office/powerpoint/2010/main" val="3861976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26D69-17D5-93A5-ADF9-E798763EE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Sales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Performance</a:t>
            </a:r>
            <a:r>
              <a:rPr lang="en-US" b="1" dirty="0"/>
              <a:t> &amp; Trend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3CFD3-B0CC-6D8C-1453-BC5330B9236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just"/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Key KPIs</a:t>
            </a:r>
          </a:p>
          <a:p>
            <a:pPr algn="just"/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Total Sales: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12M</a:t>
            </a:r>
          </a:p>
          <a:p>
            <a:pPr algn="just"/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Total Profit: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1M</a:t>
            </a:r>
          </a:p>
          <a:p>
            <a:pPr algn="just"/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Average Profit: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28.61</a:t>
            </a:r>
          </a:p>
          <a:p>
            <a:pPr algn="just"/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Total Orders: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51,290</a:t>
            </a:r>
          </a:p>
          <a:p>
            <a:pPr algn="just"/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Insight: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business shows strong revenue generation with positive overall profitability.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E5EBE5-7B59-08C9-C43D-51E338182F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6120165" cy="4200245"/>
          </a:xfrm>
        </p:spPr>
        <p:txBody>
          <a:bodyPr/>
          <a:lstStyle/>
          <a:p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Sales by Customer Segment</a:t>
            </a:r>
          </a:p>
          <a:p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Consumer: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~51%</a:t>
            </a:r>
          </a:p>
          <a:p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Corporate: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~32%</a:t>
            </a:r>
          </a:p>
          <a:p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Home Office: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~18%</a:t>
            </a:r>
          </a:p>
          <a:p>
            <a:pPr marL="0" indent="0">
              <a:buNone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Insight: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Consumer customers are the main revenue drivers.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489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51835-B7D5-35B8-CD77-FE1E3A7FC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Trend (2011–2014)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62C5D-A77A-D090-4470-009BF0FF88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3995" y="2010103"/>
            <a:ext cx="4875457" cy="4109343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Sales increased consistently year-over-year</a:t>
            </a:r>
          </a:p>
          <a:p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2014 recorded the highest sales</a:t>
            </a:r>
          </a:p>
          <a:p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Insight: 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Sustained growth indicates increasing demand and market expansion.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BC8473-05AE-1C8A-916F-8E4108A9CD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09532" y="2010103"/>
            <a:ext cx="5768473" cy="4395179"/>
          </a:xfrm>
        </p:spPr>
        <p:txBody>
          <a:bodyPr>
            <a:normAutofit lnSpcReduction="10000"/>
          </a:bodyPr>
          <a:lstStyle/>
          <a:p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Country Performance</a:t>
            </a:r>
          </a:p>
          <a:p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Countries:</a:t>
            </a:r>
          </a:p>
          <a:p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United States, United Kingdom, France, Germany, China</a:t>
            </a:r>
          </a:p>
          <a:p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Bottom Countries:</a:t>
            </a:r>
          </a:p>
          <a:p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Armenia, Burundi, Equatorial Guinea, Eritrea</a:t>
            </a:r>
          </a:p>
          <a:p>
            <a:pPr marL="0" indent="0">
              <a:buNone/>
            </a:pPr>
            <a:endParaRPr lang="en-US" sz="2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Insight: Sales are concentrated in a few key markets, while some regions contribute minimal revenue.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765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100A2-74DE-7F8F-4527-F809588EB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Product, Profitability &amp; Operations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29E59-0954-3FA8-2239-C5CF4FCE8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2209801"/>
            <a:ext cx="8946541" cy="3923713"/>
          </a:xfrm>
        </p:spPr>
        <p:txBody>
          <a:bodyPr/>
          <a:lstStyle/>
          <a:p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Sales &amp; Profit by Category</a:t>
            </a:r>
          </a:p>
          <a:p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Technology: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Highest sales and profit</a:t>
            </a:r>
          </a:p>
          <a:p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Office Supplies: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Moderate performance</a:t>
            </a:r>
          </a:p>
          <a:p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Furniture:</a:t>
            </a: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High sales but lowest profit</a:t>
            </a:r>
          </a:p>
          <a:p>
            <a:r>
              <a:rPr lang="en-US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Insight:</a:t>
            </a:r>
            <a:b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High sales do not always translate into high profitability.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559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7796F-AA20-FC36-53F8-4398E91F0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Shipping </a:t>
            </a:r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Cost</a:t>
            </a:r>
            <a:r>
              <a:rPr lang="en-US" b="1" dirty="0"/>
              <a:t> by Ship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34069-E2F3-B95E-2B47-3FD1E6AE5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Same Day / First Class: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Highest costs</a:t>
            </a:r>
          </a:p>
          <a:p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Standard Class: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Lowest cost</a:t>
            </a:r>
          </a:p>
          <a:p>
            <a:pPr marL="0" indent="0">
              <a:buNone/>
            </a:pPr>
            <a:endParaRPr lang="en-US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Insight:</a:t>
            </a: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Faster 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shipping significantly increases operational costs.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702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15</TotalTime>
  <Words>245</Words>
  <Application>Microsoft Office PowerPoint</Application>
  <PresentationFormat>Widescreen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Century Gothic</vt:lpstr>
      <vt:lpstr>Tahoma</vt:lpstr>
      <vt:lpstr>Wingdings 3</vt:lpstr>
      <vt:lpstr>Ion</vt:lpstr>
      <vt:lpstr>Global Superstore Dashboard Summary</vt:lpstr>
      <vt:lpstr>Project Overview</vt:lpstr>
      <vt:lpstr>Sales Performance &amp; Trend Analysis</vt:lpstr>
      <vt:lpstr>Sales Trend (2011–2014)</vt:lpstr>
      <vt:lpstr>Product, Profitability &amp; Operations Analysis</vt:lpstr>
      <vt:lpstr>Shipping Cost by Ship Mode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2026-02-02T18:10:15Z</dcterms:created>
  <dcterms:modified xsi:type="dcterms:W3CDTF">2026-02-02T18:25:55Z</dcterms:modified>
</cp:coreProperties>
</file>